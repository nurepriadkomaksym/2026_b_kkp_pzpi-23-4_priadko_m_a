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8" r:id="rId11"/>
    <p:sldId id="267" r:id="rId12"/>
  </p:sldIdLst>
  <p:sldSz cx="9144000" cy="5143500" type="screen16x9"/>
  <p:notesSz cx="6858000" cy="9144000"/>
  <p:embeddedFontLst>
    <p:embeddedFont>
      <p:font typeface="Economica" panose="020B0600000101010101" charset="0"/>
      <p:regular r:id="rId14"/>
      <p:bold r:id="rId15"/>
      <p:italic r:id="rId16"/>
      <p:boldItalic r:id="rId17"/>
    </p:embeddedFont>
    <p:embeddedFont>
      <p:font typeface="Open Sans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299"/>
            <a:ext cx="3281100" cy="988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uk-UA" sz="2000" dirty="0"/>
              <a:t>Програмна система для керування завданнями </a:t>
            </a:r>
            <a:r>
              <a:rPr lang="uk-UA" sz="2000" dirty="0" err="1"/>
              <a:t>Tasky</a:t>
            </a:r>
            <a:endParaRPr lang="uk-UA" sz="20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635125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Прядко Максим Андрійович, ПЗПІ-23-4</a:t>
            </a:r>
            <a:endParaRPr dirty="0"/>
          </a:p>
          <a:p>
            <a:pPr marL="0" lvl="0" indent="0" algn="l"/>
            <a:r>
              <a:rPr lang="uk" dirty="0"/>
              <a:t>Керівник: доц. </a:t>
            </a:r>
            <a:r>
              <a:rPr lang="ru-RU" dirty="0"/>
              <a:t>к</a:t>
            </a:r>
            <a:r>
              <a:rPr lang="uk" dirty="0"/>
              <a:t>аф. ПІ, </a:t>
            </a:r>
            <a:r>
              <a:rPr lang="uk-UA" dirty="0"/>
              <a:t>Колесников Дмитро</a:t>
            </a:r>
          </a:p>
          <a:p>
            <a:pPr marL="0" lvl="0" indent="0" algn="l"/>
            <a:r>
              <a:rPr lang="uk-UA" dirty="0"/>
              <a:t>Олегович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8 червня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just">
              <a:spcBef>
                <a:spcPts val="1200"/>
              </a:spcBef>
              <a:buNone/>
            </a:pPr>
            <a:r>
              <a:rPr lang="ru-RU" b="1" dirty="0"/>
              <a:t>Мета:</a:t>
            </a:r>
            <a:r>
              <a:rPr lang="ru-RU" dirty="0"/>
              <a:t> </a:t>
            </a:r>
            <a:r>
              <a:rPr lang="uk-UA" dirty="0"/>
              <a:t>проєктування та розробка веб-системи </a:t>
            </a:r>
            <a:r>
              <a:rPr lang="en-GB" b="1" dirty="0" err="1">
                <a:latin typeface="Economica" panose="020B0600000101010101" charset="0"/>
              </a:rPr>
              <a:t>Tasky</a:t>
            </a:r>
            <a:r>
              <a:rPr lang="en-GB" dirty="0">
                <a:latin typeface="Economica" panose="020B0600000101010101" charset="0"/>
              </a:rPr>
              <a:t> </a:t>
            </a:r>
            <a:r>
              <a:rPr lang="uk-UA" dirty="0"/>
              <a:t>для командного керування завданнями, створення завдань, призначення виконавців, встановлення пріоритетів і дедлайнів, а також керування ролями учасників команди. </a:t>
            </a:r>
          </a:p>
          <a:p>
            <a:pPr marL="0" lvl="0" indent="0" algn="just">
              <a:spcBef>
                <a:spcPts val="1200"/>
              </a:spcBef>
              <a:buNone/>
            </a:pPr>
            <a:r>
              <a:rPr lang="ru-RU" b="1" dirty="0" err="1"/>
              <a:t>Актуальність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uk-UA" dirty="0"/>
              <a:t>невеликі команди часто зберігають завдання, домовленості та дедлайни в різних чатах, таблицях або нотатках, що призводить до втрати контексту й ускладнює контроль виконання. </a:t>
            </a:r>
            <a:r>
              <a:rPr lang="en-GB" b="1" dirty="0" err="1">
                <a:latin typeface="Economica" panose="020B0600000101010101" charset="0"/>
              </a:rPr>
              <a:t>Tasky</a:t>
            </a:r>
            <a:r>
              <a:rPr lang="en-GB" dirty="0">
                <a:latin typeface="Economica" panose="020B0600000101010101" charset="0"/>
              </a:rPr>
              <a:t> </a:t>
            </a:r>
            <a:r>
              <a:rPr lang="uk-UA" dirty="0"/>
              <a:t>вирішує цю проблему через єдиний робочий простір для команд, </a:t>
            </a:r>
            <a:r>
              <a:rPr lang="uk-UA" dirty="0" err="1"/>
              <a:t>проєктів</a:t>
            </a:r>
            <a:r>
              <a:rPr lang="uk-UA" dirty="0"/>
              <a:t> і завдань, підтримку відповідальних виконавців, дедлайнів та контрольованого доступу до командних даних.</a:t>
            </a:r>
            <a:endParaRPr lang="ru-RU"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1424220" y="960089"/>
            <a:ext cx="99894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</a:rPr>
              <a:t>Trello</a:t>
            </a:r>
            <a:endParaRPr b="1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56F720-E105-5F0A-3E7F-C9C297198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63" y="1791389"/>
            <a:ext cx="3660238" cy="202228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9B32D7-B3A9-4C78-017F-5F39E8089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448" y="1824334"/>
            <a:ext cx="3493557" cy="1956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E609D6-0FE1-E718-8907-BA2200B01CAE}"/>
              </a:ext>
            </a:extLst>
          </p:cNvPr>
          <p:cNvSpPr txBox="1"/>
          <p:nvPr/>
        </p:nvSpPr>
        <p:spPr>
          <a:xfrm>
            <a:off x="6251528" y="1191073"/>
            <a:ext cx="91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Asana</a:t>
            </a:r>
            <a:endParaRPr lang="uk-UA" sz="1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2526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lnSpc>
                <a:spcPct val="120000"/>
              </a:lnSpc>
              <a:buFont typeface="+mj-lt"/>
              <a:buAutoNum type="alphaLcParenR"/>
            </a:pPr>
            <a:r>
              <a:rPr lang="uk-UA" dirty="0">
                <a:highlight>
                  <a:srgbClr val="FFFFFF"/>
                </a:highlight>
              </a:rPr>
              <a:t>провести аналіз предметної галузі командного керування завданнями, визначити проблеми невеликих команд та порівняти аналоги системи;</a:t>
            </a:r>
          </a:p>
          <a:p>
            <a:pPr>
              <a:lnSpc>
                <a:spcPct val="120000"/>
              </a:lnSpc>
              <a:buFont typeface="+mj-lt"/>
              <a:buAutoNum type="alphaLcParenR"/>
            </a:pPr>
            <a:r>
              <a:rPr lang="uk-UA" dirty="0">
                <a:highlight>
                  <a:srgbClr val="FFFFFF"/>
                </a:highlight>
              </a:rPr>
              <a:t>сформувати функціональні й нефункціональні вимоги до веб-системи </a:t>
            </a:r>
            <a:r>
              <a:rPr lang="en-GB" b="1" dirty="0" err="1">
                <a:highlight>
                  <a:srgbClr val="FFFFFF"/>
                </a:highlight>
                <a:latin typeface="Economica" panose="020B0600000101010101" charset="0"/>
              </a:rPr>
              <a:t>Tasky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;</a:t>
            </a:r>
          </a:p>
          <a:p>
            <a:pPr>
              <a:lnSpc>
                <a:spcPct val="120000"/>
              </a:lnSpc>
              <a:buFont typeface="+mj-lt"/>
              <a:buAutoNum type="alphaLcParenR"/>
            </a:pPr>
            <a:r>
              <a:rPr lang="uk-UA" dirty="0" err="1">
                <a:highlight>
                  <a:srgbClr val="FFFFFF"/>
                </a:highlight>
              </a:rPr>
              <a:t>спроєктувати</a:t>
            </a:r>
            <a:r>
              <a:rPr lang="uk-UA" dirty="0">
                <a:highlight>
                  <a:srgbClr val="FFFFFF"/>
                </a:highlight>
              </a:rPr>
              <a:t> архітектуру клієнт-серверної системи з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backend-</a:t>
            </a:r>
            <a:r>
              <a:rPr lang="uk-UA" dirty="0">
                <a:highlight>
                  <a:srgbClr val="FFFFFF"/>
                </a:highlight>
              </a:rPr>
              <a:t>частиною на </a:t>
            </a:r>
            <a:r>
              <a:rPr lang="en-GB" b="1" dirty="0">
                <a:highlight>
                  <a:srgbClr val="FFFFFF"/>
                </a:highlight>
                <a:latin typeface="Economica" panose="020B0600000101010101" charset="0"/>
              </a:rPr>
              <a:t>ASP.NET Core Web API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</a:t>
            </a:r>
            <a:r>
              <a:rPr lang="uk-UA" dirty="0">
                <a:highlight>
                  <a:srgbClr val="FFFFFF"/>
                </a:highlight>
              </a:rPr>
              <a:t>та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frontend-</a:t>
            </a:r>
            <a:r>
              <a:rPr lang="uk-UA" dirty="0">
                <a:highlight>
                  <a:srgbClr val="FFFFFF"/>
                </a:highlight>
              </a:rPr>
              <a:t>частиною на </a:t>
            </a:r>
            <a:r>
              <a:rPr lang="en-GB" b="1" dirty="0">
                <a:highlight>
                  <a:srgbClr val="FFFFFF"/>
                </a:highlight>
                <a:latin typeface="Economica" panose="020B0600000101010101" charset="0"/>
              </a:rPr>
              <a:t>React TypeScript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;</a:t>
            </a:r>
          </a:p>
          <a:p>
            <a:pPr>
              <a:lnSpc>
                <a:spcPct val="120000"/>
              </a:lnSpc>
              <a:buFont typeface="+mj-lt"/>
              <a:buAutoNum type="alphaLcParenR"/>
            </a:pPr>
            <a:r>
              <a:rPr lang="uk-UA" dirty="0">
                <a:highlight>
                  <a:srgbClr val="FFFFFF"/>
                </a:highlight>
              </a:rPr>
              <a:t>розробити структуру реляційної бази даних для команд, користувачів, </a:t>
            </a:r>
            <a:r>
              <a:rPr lang="uk-UA" dirty="0" err="1">
                <a:highlight>
                  <a:srgbClr val="FFFFFF"/>
                </a:highlight>
              </a:rPr>
              <a:t>проєктів</a:t>
            </a:r>
            <a:r>
              <a:rPr lang="uk-UA" dirty="0">
                <a:highlight>
                  <a:srgbClr val="FFFFFF"/>
                </a:highlight>
              </a:rPr>
              <a:t>, завдань, запрошень, ролей, коментарів, міток і вкладень;</a:t>
            </a:r>
          </a:p>
          <a:p>
            <a:pPr>
              <a:lnSpc>
                <a:spcPct val="120000"/>
              </a:lnSpc>
              <a:buFont typeface="+mj-lt"/>
              <a:buAutoNum type="alphaLcParenR"/>
            </a:pPr>
            <a:r>
              <a:rPr lang="uk-UA" dirty="0">
                <a:highlight>
                  <a:srgbClr val="FFFFFF"/>
                </a:highlight>
              </a:rPr>
              <a:t>реалізувати основні сценарії системи: реєстрацію, створення команд, запрошення учасників за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username, </a:t>
            </a:r>
            <a:r>
              <a:rPr lang="uk-UA" dirty="0">
                <a:highlight>
                  <a:srgbClr val="FFFFFF"/>
                </a:highlight>
              </a:rPr>
              <a:t>створення завдань, призначення виконавців, встановлення пріоритетів і дедлайнів, а також перевірку прав доступу.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0000101010101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9A004AD0-7F9C-8376-C9E1-3272D4D93A14}"/>
              </a:ext>
            </a:extLst>
          </p:cNvPr>
          <p:cNvSpPr txBox="1">
            <a:spLocks/>
          </p:cNvSpPr>
          <p:nvPr/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 sz="3200"/>
              <a:t>Вибір технологій розробки </a:t>
            </a:r>
            <a:endParaRPr lang="uk-UA" sz="3200" dirty="0"/>
          </a:p>
        </p:txBody>
      </p:sp>
      <p:pic>
        <p:nvPicPr>
          <p:cNvPr id="4" name="Google Shape;94;p17">
            <a:extLst>
              <a:ext uri="{FF2B5EF4-FFF2-40B4-BE49-F238E27FC236}">
                <a16:creationId xmlns:a16="http://schemas.microsoft.com/office/drawing/2014/main" id="{C4204CD3-5AA1-FEFF-98A4-4E7A43CD06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033761-CAAA-C472-039B-D8E25DB7B9C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6" name="Google Shape;92;p17">
            <a:extLst>
              <a:ext uri="{FF2B5EF4-FFF2-40B4-BE49-F238E27FC236}">
                <a16:creationId xmlns:a16="http://schemas.microsoft.com/office/drawing/2014/main" id="{72D75521-9628-397A-CA82-A2ADD400DDFB}"/>
              </a:ext>
            </a:extLst>
          </p:cNvPr>
          <p:cNvSpPr txBox="1">
            <a:spLocks/>
          </p:cNvSpPr>
          <p:nvPr/>
        </p:nvSpPr>
        <p:spPr>
          <a:xfrm>
            <a:off x="154626" y="928977"/>
            <a:ext cx="2998710" cy="6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3200" dirty="0"/>
              <a:t>Кл</a:t>
            </a:r>
            <a:r>
              <a:rPr lang="uk-UA" sz="3200" dirty="0"/>
              <a:t>ієнтська частина</a:t>
            </a:r>
            <a:endParaRPr lang="ru-RU" sz="3200" dirty="0"/>
          </a:p>
        </p:txBody>
      </p:sp>
      <p:sp>
        <p:nvSpPr>
          <p:cNvPr id="7" name="Google Shape;92;p17">
            <a:extLst>
              <a:ext uri="{FF2B5EF4-FFF2-40B4-BE49-F238E27FC236}">
                <a16:creationId xmlns:a16="http://schemas.microsoft.com/office/drawing/2014/main" id="{C7FF504C-0CCF-C1AF-C867-338F63353800}"/>
              </a:ext>
            </a:extLst>
          </p:cNvPr>
          <p:cNvSpPr txBox="1">
            <a:spLocks/>
          </p:cNvSpPr>
          <p:nvPr/>
        </p:nvSpPr>
        <p:spPr>
          <a:xfrm>
            <a:off x="2918011" y="928977"/>
            <a:ext cx="2998710" cy="6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2200" dirty="0"/>
              <a:t>Серверна </a:t>
            </a:r>
            <a:r>
              <a:rPr lang="uk-UA" sz="2200" dirty="0"/>
              <a:t>частина</a:t>
            </a:r>
            <a:endParaRPr lang="ru-RU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2D700-0C93-AA80-70AA-3C8CD1E6AD65}"/>
              </a:ext>
            </a:extLst>
          </p:cNvPr>
          <p:cNvSpPr txBox="1"/>
          <p:nvPr/>
        </p:nvSpPr>
        <p:spPr>
          <a:xfrm>
            <a:off x="361330" y="1832739"/>
            <a:ext cx="27920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React 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TypeScript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Vite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Tailwind CSS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React Router DOM</a:t>
            </a:r>
            <a:endParaRPr lang="ru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92;p17">
            <a:extLst>
              <a:ext uri="{FF2B5EF4-FFF2-40B4-BE49-F238E27FC236}">
                <a16:creationId xmlns:a16="http://schemas.microsoft.com/office/drawing/2014/main" id="{6AD11672-8DE7-702E-3F17-E8146A88AC71}"/>
              </a:ext>
            </a:extLst>
          </p:cNvPr>
          <p:cNvSpPr txBox="1">
            <a:spLocks/>
          </p:cNvSpPr>
          <p:nvPr/>
        </p:nvSpPr>
        <p:spPr>
          <a:xfrm>
            <a:off x="5779530" y="928977"/>
            <a:ext cx="2998710" cy="6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2200" dirty="0"/>
              <a:t>Автентифікац</a:t>
            </a:r>
            <a:r>
              <a:rPr lang="uk-UA" sz="2200" dirty="0"/>
              <a:t>і</a:t>
            </a:r>
            <a:r>
              <a:rPr lang="ru-RU" sz="2200" dirty="0"/>
              <a:t>я та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217D1E-0E35-1248-1243-E91EDFC09389}"/>
              </a:ext>
            </a:extLst>
          </p:cNvPr>
          <p:cNvSpPr txBox="1"/>
          <p:nvPr/>
        </p:nvSpPr>
        <p:spPr>
          <a:xfrm>
            <a:off x="3222849" y="1832739"/>
            <a:ext cx="2556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nl-NL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ASP.NET Core .NET 8</a:t>
            </a:r>
          </a:p>
          <a:p>
            <a:pPr marL="342900" indent="-342900">
              <a:buFont typeface="+mj-lt"/>
              <a:buAutoNum type="arabicParenR"/>
            </a:pPr>
            <a:r>
              <a:rPr lang="nl-NL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Entity Framework Core 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  <a:ea typeface="Calibri" panose="020F0502020204030204" pitchFamily="34" charset="0"/>
                <a:cs typeface="Calibri" panose="020F0502020204030204" pitchFamily="34" charset="0"/>
              </a:rPr>
              <a:t>MS SQL Server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FF03D-7EC0-DF39-BADD-43E547A2C350}"/>
              </a:ext>
            </a:extLst>
          </p:cNvPr>
          <p:cNvSpPr txBox="1"/>
          <p:nvPr/>
        </p:nvSpPr>
        <p:spPr>
          <a:xfrm>
            <a:off x="6156549" y="1832739"/>
            <a:ext cx="2556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</a:rPr>
              <a:t>JWT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</a:rPr>
              <a:t>Visual Studio 2022</a:t>
            </a:r>
            <a:endParaRPr lang="ru-RU" sz="2000" dirty="0"/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</a:rPr>
              <a:t>Visual Studio Code</a:t>
            </a:r>
            <a:endParaRPr lang="ru-RU" sz="2000" dirty="0"/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Economica" panose="020B0600000101010101" charset="0"/>
              </a:rPr>
              <a:t>GitHub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Reactjs logo - free Icon PNG, SVG">
            <a:extLst>
              <a:ext uri="{FF2B5EF4-FFF2-40B4-BE49-F238E27FC236}">
                <a16:creationId xmlns:a16="http://schemas.microsoft.com/office/drawing/2014/main" id="{11A946C2-EE14-86B6-45B0-5F1393767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51" y="3463955"/>
            <a:ext cx="1455248" cy="72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_Entity Framework - Greenfinch Technology">
            <a:extLst>
              <a:ext uri="{FF2B5EF4-FFF2-40B4-BE49-F238E27FC236}">
                <a16:creationId xmlns:a16="http://schemas.microsoft.com/office/drawing/2014/main" id="{4030AE15-3D77-811E-DE03-3ABB3B498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65" y="2816236"/>
            <a:ext cx="1944001" cy="19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Visual Studio full logo transparent PNG - StickPNG">
            <a:extLst>
              <a:ext uri="{FF2B5EF4-FFF2-40B4-BE49-F238E27FC236}">
                <a16:creationId xmlns:a16="http://schemas.microsoft.com/office/drawing/2014/main" id="{25853EC1-B377-AA70-A0B7-FCBDD955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275" y="3341766"/>
            <a:ext cx="1944001" cy="97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85206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Система </a:t>
            </a:r>
            <a:r>
              <a:rPr lang="en-GB" b="1" dirty="0" err="1">
                <a:highlight>
                  <a:srgbClr val="FFFFFF"/>
                </a:highlight>
                <a:latin typeface="Economica" panose="020B0600000101010101" charset="0"/>
              </a:rPr>
              <a:t>Tasky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</a:t>
            </a:r>
            <a:r>
              <a:rPr lang="uk-UA" dirty="0">
                <a:highlight>
                  <a:srgbClr val="FFFFFF"/>
                </a:highlight>
              </a:rPr>
              <a:t>побудована за клієнт-серверною архітектурою.</a:t>
            </a:r>
            <a:br>
              <a:rPr lang="uk-UA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У браузері користувача працює </a:t>
            </a:r>
            <a:r>
              <a:rPr lang="en-GB" b="1" dirty="0">
                <a:highlight>
                  <a:srgbClr val="FFFFFF"/>
                </a:highlight>
                <a:latin typeface="Economica" panose="020B0600000101010101" charset="0"/>
              </a:rPr>
              <a:t>React SPA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, </a:t>
            </a:r>
            <a:r>
              <a:rPr lang="uk-UA" dirty="0">
                <a:highlight>
                  <a:srgbClr val="FFFFFF"/>
                </a:highlight>
              </a:rPr>
              <a:t>яка надсилає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HTTP-</a:t>
            </a:r>
            <a:r>
              <a:rPr lang="uk-UA" dirty="0">
                <a:highlight>
                  <a:srgbClr val="FFFFFF"/>
                </a:highlight>
              </a:rPr>
              <a:t>запити до </a:t>
            </a:r>
            <a:r>
              <a:rPr lang="en-GB" b="1" dirty="0">
                <a:highlight>
                  <a:srgbClr val="FFFFFF"/>
                </a:highlight>
                <a:latin typeface="Economica" panose="020B0600000101010101" charset="0"/>
              </a:rPr>
              <a:t>ASP.NET Core Web API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.</a:t>
            </a:r>
            <a:br>
              <a:rPr lang="en-GB" dirty="0">
                <a:highlight>
                  <a:srgbClr val="FFFFFF"/>
                </a:highlight>
                <a:latin typeface="Economica" panose="020B0600000101010101" charset="0"/>
              </a:rPr>
            </a:br>
            <a:r>
              <a:rPr lang="uk-UA" dirty="0">
                <a:highlight>
                  <a:srgbClr val="FFFFFF"/>
                </a:highlight>
              </a:rPr>
              <a:t>Серверна частина обробляє бізнес-логіку, перевіряє права доступу та взаємодіє з </a:t>
            </a:r>
            <a:r>
              <a:rPr lang="en-GB" b="1" dirty="0">
                <a:highlight>
                  <a:srgbClr val="FFFFFF"/>
                </a:highlight>
                <a:latin typeface="Economica" panose="020B0600000101010101" charset="0"/>
              </a:rPr>
              <a:t>MS SQL Server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</a:t>
            </a:r>
            <a:r>
              <a:rPr lang="uk-UA" dirty="0">
                <a:highlight>
                  <a:srgbClr val="FFFFFF"/>
                </a:highlight>
              </a:rPr>
              <a:t>через </a:t>
            </a:r>
            <a:r>
              <a:rPr lang="en-GB" b="1" dirty="0">
                <a:highlight>
                  <a:srgbClr val="FFFFFF"/>
                </a:highlight>
                <a:latin typeface="Economica" panose="020B0600000101010101" charset="0"/>
              </a:rPr>
              <a:t>Entity Framework Core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Опис ключових компонентів</a:t>
            </a:r>
          </a:p>
          <a:p>
            <a:pPr>
              <a:buFont typeface="+mj-lt"/>
              <a:buAutoNum type="alphaLcParenR"/>
            </a:pP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Frontend – </a:t>
            </a:r>
            <a:r>
              <a:rPr lang="uk-UA" dirty="0">
                <a:highlight>
                  <a:srgbClr val="FFFFFF"/>
                </a:highlight>
              </a:rPr>
              <a:t>інтерфейс користувача для роботи з командами, </a:t>
            </a:r>
            <a:r>
              <a:rPr lang="uk-UA" dirty="0" err="1">
                <a:highlight>
                  <a:srgbClr val="FFFFFF"/>
                </a:highlight>
              </a:rPr>
              <a:t>проєктами</a:t>
            </a:r>
            <a:r>
              <a:rPr lang="uk-UA" dirty="0">
                <a:highlight>
                  <a:srgbClr val="FFFFFF"/>
                </a:highlight>
              </a:rPr>
              <a:t>, завданнями та запрошеннями; </a:t>
            </a:r>
          </a:p>
          <a:p>
            <a:pPr>
              <a:buFont typeface="+mj-lt"/>
              <a:buAutoNum type="alphaLcParenR"/>
            </a:pPr>
            <a:r>
              <a:rPr lang="en-GB" dirty="0" err="1">
                <a:highlight>
                  <a:srgbClr val="FFFFFF"/>
                </a:highlight>
                <a:latin typeface="Economica" panose="020B0600000101010101" charset="0"/>
              </a:rPr>
              <a:t>Tasky.Api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– </a:t>
            </a:r>
            <a:r>
              <a:rPr lang="uk-UA" dirty="0">
                <a:highlight>
                  <a:srgbClr val="FFFFFF"/>
                </a:highlight>
              </a:rPr>
              <a:t>точка входу для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HTTP-</a:t>
            </a:r>
            <a:r>
              <a:rPr lang="uk-UA" dirty="0">
                <a:highlight>
                  <a:srgbClr val="FFFFFF"/>
                </a:highlight>
              </a:rPr>
              <a:t>запитів, контролери, маршрутизація,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JWT-</a:t>
            </a:r>
            <a:r>
              <a:rPr lang="uk-UA" dirty="0">
                <a:highlight>
                  <a:srgbClr val="FFFFFF"/>
                </a:highlight>
              </a:rPr>
              <a:t>автентифікація та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Dependency Injection; </a:t>
            </a:r>
          </a:p>
          <a:p>
            <a:pPr>
              <a:buFont typeface="+mj-lt"/>
              <a:buAutoNum type="alphaLcParenR"/>
            </a:pPr>
            <a:r>
              <a:rPr lang="en-GB" dirty="0" err="1">
                <a:highlight>
                  <a:srgbClr val="FFFFFF"/>
                </a:highlight>
                <a:latin typeface="Economica" panose="020B0600000101010101" charset="0"/>
              </a:rPr>
              <a:t>Tasky.Application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– </a:t>
            </a:r>
            <a:r>
              <a:rPr lang="uk-UA" dirty="0">
                <a:highlight>
                  <a:srgbClr val="FFFFFF"/>
                </a:highlight>
              </a:rPr>
              <a:t>прикладна логіка,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DTO, </a:t>
            </a:r>
            <a:r>
              <a:rPr lang="uk-UA" dirty="0">
                <a:highlight>
                  <a:srgbClr val="FFFFFF"/>
                </a:highlight>
              </a:rPr>
              <a:t>сервіси, перевірка прав менеджера, створення запрошень і призначення виконавців; </a:t>
            </a:r>
          </a:p>
          <a:p>
            <a:pPr>
              <a:buFont typeface="+mj-lt"/>
              <a:buAutoNum type="alphaLcParenR"/>
            </a:pPr>
            <a:r>
              <a:rPr lang="en-GB" dirty="0" err="1">
                <a:highlight>
                  <a:srgbClr val="FFFFFF"/>
                </a:highlight>
                <a:latin typeface="Economica" panose="020B0600000101010101" charset="0"/>
              </a:rPr>
              <a:t>Tasky.Domain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– </a:t>
            </a:r>
            <a:r>
              <a:rPr lang="uk-UA" dirty="0">
                <a:highlight>
                  <a:srgbClr val="FFFFFF"/>
                </a:highlight>
              </a:rPr>
              <a:t>основні сутності системи: користувачі, команди, </a:t>
            </a:r>
            <a:r>
              <a:rPr lang="uk-UA" dirty="0" err="1">
                <a:highlight>
                  <a:srgbClr val="FFFFFF"/>
                </a:highlight>
              </a:rPr>
              <a:t>проєкти</a:t>
            </a:r>
            <a:r>
              <a:rPr lang="uk-UA" dirty="0">
                <a:highlight>
                  <a:srgbClr val="FFFFFF"/>
                </a:highlight>
              </a:rPr>
              <a:t>, завдання, ролі, коментарі, мітки та вкладення; </a:t>
            </a:r>
          </a:p>
          <a:p>
            <a:pPr>
              <a:buFont typeface="+mj-lt"/>
              <a:buAutoNum type="alphaLcParenR"/>
            </a:pPr>
            <a:r>
              <a:rPr lang="en-GB" dirty="0" err="1">
                <a:highlight>
                  <a:srgbClr val="FFFFFF"/>
                </a:highlight>
                <a:latin typeface="Economica" panose="020B0600000101010101" charset="0"/>
              </a:rPr>
              <a:t>Tasky.Infrastructure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 – </a:t>
            </a:r>
            <a:r>
              <a:rPr lang="uk-UA" dirty="0">
                <a:highlight>
                  <a:srgbClr val="FFFFFF"/>
                </a:highlight>
              </a:rPr>
              <a:t>робота з базою даних, конфігурації </a:t>
            </a:r>
            <a:r>
              <a:rPr lang="en-GB" dirty="0">
                <a:highlight>
                  <a:srgbClr val="FFFFFF"/>
                </a:highlight>
                <a:latin typeface="Economica" panose="020B0600000101010101" charset="0"/>
              </a:rPr>
              <a:t>Entity Framework Core, </a:t>
            </a:r>
            <a:r>
              <a:rPr lang="uk-UA" dirty="0">
                <a:highlight>
                  <a:srgbClr val="FFFFFF"/>
                </a:highlight>
              </a:rPr>
              <a:t>міграції та зовнішні сервіси.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0000101010101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13796E-69CF-7981-DCC3-4E1E71C16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825044"/>
            <a:ext cx="3852981" cy="1988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0A2C8E-1F24-6D8E-3BAF-E8ABE5C3B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259" y="825044"/>
            <a:ext cx="3852981" cy="1988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AE1EA3-63CF-8A42-3AA2-B0BC66A70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135" y="2969414"/>
            <a:ext cx="3742247" cy="19447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B59DB7-8190-B109-2064-7224F17D7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5" y="1181222"/>
            <a:ext cx="3836525" cy="24560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7D5B57-9952-94D8-8769-79EF4AF9D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856" y="1275083"/>
            <a:ext cx="3773384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BC1037-9388-2201-124A-C3215C3E3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5" y="773098"/>
            <a:ext cx="4844095" cy="14981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F795C0-3A60-3BDE-7059-DBE8E96AC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250" y="272030"/>
            <a:ext cx="2107780" cy="42214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F244E1-B13C-7C50-0CFF-FF8EC6882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052" y="2382770"/>
            <a:ext cx="1679123" cy="24829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Подальший розвиток системи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• додавання </a:t>
            </a:r>
            <a:r>
              <a:rPr lang="en-GB" dirty="0">
                <a:highlight>
                  <a:srgbClr val="FFFFFF"/>
                </a:highlight>
              </a:rPr>
              <a:t>email-</a:t>
            </a:r>
            <a:r>
              <a:rPr lang="uk-UA" dirty="0">
                <a:highlight>
                  <a:srgbClr val="FFFFFF"/>
                </a:highlight>
              </a:rPr>
              <a:t>сповіщень про запрошення та дедлайни;</a:t>
            </a:r>
            <a:br>
              <a:rPr lang="uk-UA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• інтеграція календаря для планування задач;</a:t>
            </a:r>
            <a:br>
              <a:rPr lang="uk-UA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• покращення </a:t>
            </a:r>
            <a:r>
              <a:rPr lang="en-GB" dirty="0">
                <a:highlight>
                  <a:srgbClr val="FFFFFF"/>
                </a:highlight>
              </a:rPr>
              <a:t>UI/UX </a:t>
            </a:r>
            <a:r>
              <a:rPr lang="uk-UA" dirty="0">
                <a:highlight>
                  <a:srgbClr val="FFFFFF"/>
                </a:highlight>
              </a:rPr>
              <a:t>та адаптація під мобільні пристрої;</a:t>
            </a:r>
            <a:br>
              <a:rPr lang="uk-UA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• додавання фільтрації задач.</a:t>
            </a: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buNone/>
            </a:pPr>
            <a:r>
              <a:rPr lang="uk-UA" dirty="0"/>
              <a:t>• здійснено аналіз предметної галузі командного керування завданнями та розглянуто аналоги: </a:t>
            </a:r>
            <a:r>
              <a:rPr lang="en-GB" dirty="0">
                <a:latin typeface="Economica" panose="020B0600000101010101" charset="0"/>
              </a:rPr>
              <a:t>Trello, Jira, Asana </a:t>
            </a:r>
            <a:r>
              <a:rPr lang="uk-UA" dirty="0"/>
              <a:t>і </a:t>
            </a:r>
            <a:r>
              <a:rPr lang="en-GB" dirty="0">
                <a:latin typeface="Economica" panose="020B0600000101010101" charset="0"/>
              </a:rPr>
              <a:t>GitHub Projects;</a:t>
            </a:r>
          </a:p>
          <a:p>
            <a:pPr>
              <a:buNone/>
            </a:pPr>
            <a:r>
              <a:rPr lang="en-GB" dirty="0">
                <a:latin typeface="Economica" panose="020B0600000101010101" charset="0"/>
              </a:rPr>
              <a:t>• </a:t>
            </a:r>
            <a:r>
              <a:rPr lang="uk-UA" dirty="0"/>
              <a:t>визначено вимоги до системи </a:t>
            </a:r>
            <a:r>
              <a:rPr lang="en-GB" b="1" dirty="0" err="1">
                <a:latin typeface="Economica" panose="020B0600000101010101" charset="0"/>
              </a:rPr>
              <a:t>Tasky</a:t>
            </a:r>
            <a:r>
              <a:rPr lang="en-GB" dirty="0">
                <a:latin typeface="Economica" panose="020B0600000101010101" charset="0"/>
              </a:rPr>
              <a:t>, </a:t>
            </a:r>
            <a:r>
              <a:rPr lang="uk-UA" dirty="0"/>
              <a:t>зокрема реєстрацію користувачів, створення команд, запрошення учасників за </a:t>
            </a:r>
            <a:r>
              <a:rPr lang="en-GB" dirty="0">
                <a:latin typeface="Economica" panose="020B0600000101010101" charset="0"/>
              </a:rPr>
              <a:t>username, </a:t>
            </a:r>
            <a:r>
              <a:rPr lang="uk-UA" dirty="0"/>
              <a:t>роботу із завданнями, пріоритетами та дедлайнами;</a:t>
            </a:r>
          </a:p>
          <a:p>
            <a:pPr>
              <a:buNone/>
            </a:pPr>
            <a:r>
              <a:rPr lang="uk-UA" dirty="0"/>
              <a:t>• спроєктовано клієнт-серверну архітектуру системи з розділенням на </a:t>
            </a:r>
            <a:r>
              <a:rPr lang="en-GB" dirty="0">
                <a:latin typeface="Economica" panose="020B0600000101010101" charset="0"/>
              </a:rPr>
              <a:t>frontend, backend, </a:t>
            </a:r>
            <a:r>
              <a:rPr lang="uk-UA" dirty="0"/>
              <a:t>прикладну логіку, доменну модель та інфраструктурний рівень;</a:t>
            </a:r>
          </a:p>
          <a:p>
            <a:pPr>
              <a:buNone/>
            </a:pPr>
            <a:r>
              <a:rPr lang="uk-UA" dirty="0"/>
              <a:t>• розроблено структуру бази даних для зберігання користувачів, команд, </a:t>
            </a:r>
            <a:r>
              <a:rPr lang="uk-UA" dirty="0" err="1"/>
              <a:t>проєктів</a:t>
            </a:r>
            <a:r>
              <a:rPr lang="uk-UA" dirty="0"/>
              <a:t>, завдань, запрошень, ролей, коментарів, міток і вкладень;</a:t>
            </a:r>
          </a:p>
          <a:p>
            <a:pPr>
              <a:buNone/>
            </a:pPr>
            <a:r>
              <a:rPr lang="uk-UA" dirty="0"/>
              <a:t>• реалізовано веб-систему </a:t>
            </a:r>
            <a:r>
              <a:rPr lang="en-GB" b="1" dirty="0" err="1">
                <a:latin typeface="Economica" panose="020B0600000101010101" charset="0"/>
              </a:rPr>
              <a:t>Tasky</a:t>
            </a:r>
            <a:r>
              <a:rPr lang="en-GB" dirty="0">
                <a:latin typeface="Economica" panose="020B0600000101010101" charset="0"/>
              </a:rPr>
              <a:t> </a:t>
            </a:r>
            <a:r>
              <a:rPr lang="uk-UA" dirty="0"/>
              <a:t>на основі </a:t>
            </a:r>
            <a:r>
              <a:rPr lang="en-GB" b="1" dirty="0">
                <a:latin typeface="Economica" panose="020B0600000101010101" charset="0"/>
              </a:rPr>
              <a:t>ASP.NET Core Web API</a:t>
            </a:r>
            <a:r>
              <a:rPr lang="en-GB" dirty="0">
                <a:latin typeface="Economica" panose="020B0600000101010101" charset="0"/>
              </a:rPr>
              <a:t>, </a:t>
            </a:r>
            <a:r>
              <a:rPr lang="en-GB" b="1" dirty="0">
                <a:latin typeface="Economica" panose="020B0600000101010101" charset="0"/>
              </a:rPr>
              <a:t>Entity Framework Core</a:t>
            </a:r>
            <a:r>
              <a:rPr lang="en-GB" dirty="0">
                <a:latin typeface="Economica" panose="020B0600000101010101" charset="0"/>
              </a:rPr>
              <a:t>, </a:t>
            </a:r>
            <a:r>
              <a:rPr lang="en-GB" b="1" dirty="0">
                <a:latin typeface="Economica" panose="020B0600000101010101" charset="0"/>
              </a:rPr>
              <a:t>MS SQL Server</a:t>
            </a:r>
            <a:r>
              <a:rPr lang="en-GB" dirty="0">
                <a:latin typeface="Economica" panose="020B0600000101010101" charset="0"/>
              </a:rPr>
              <a:t>, </a:t>
            </a:r>
            <a:r>
              <a:rPr lang="en-GB" b="1" dirty="0">
                <a:latin typeface="Economica" panose="020B0600000101010101" charset="0"/>
              </a:rPr>
              <a:t>React</a:t>
            </a:r>
            <a:r>
              <a:rPr lang="en-GB" dirty="0">
                <a:latin typeface="Economica" panose="020B0600000101010101" charset="0"/>
              </a:rPr>
              <a:t>, </a:t>
            </a:r>
            <a:r>
              <a:rPr lang="en-GB" b="1" dirty="0">
                <a:latin typeface="Economica" panose="020B0600000101010101" charset="0"/>
              </a:rPr>
              <a:t>TypeScript</a:t>
            </a:r>
            <a:r>
              <a:rPr lang="en-GB" dirty="0">
                <a:latin typeface="Economica" panose="020B0600000101010101" charset="0"/>
              </a:rPr>
              <a:t>, </a:t>
            </a:r>
            <a:r>
              <a:rPr lang="en-GB" b="1" dirty="0">
                <a:latin typeface="Economica" panose="020B0600000101010101" charset="0"/>
              </a:rPr>
              <a:t>Vite</a:t>
            </a:r>
            <a:r>
              <a:rPr lang="en-GB" dirty="0">
                <a:latin typeface="Economica" panose="020B0600000101010101" charset="0"/>
              </a:rPr>
              <a:t> </a:t>
            </a:r>
            <a:r>
              <a:rPr lang="uk-UA" dirty="0"/>
              <a:t>та </a:t>
            </a:r>
            <a:r>
              <a:rPr lang="en-GB" b="1" dirty="0">
                <a:latin typeface="Economica" panose="020B0600000101010101" charset="0"/>
              </a:rPr>
              <a:t>Tailwind CSS</a:t>
            </a:r>
            <a:r>
              <a:rPr lang="en-GB" dirty="0">
                <a:latin typeface="Economica" panose="020B0600000101010101" charset="0"/>
              </a:rPr>
              <a:t>;</a:t>
            </a:r>
          </a:p>
          <a:p>
            <a:pPr>
              <a:buNone/>
            </a:pPr>
            <a:r>
              <a:rPr lang="en-GB" dirty="0">
                <a:latin typeface="Economica" panose="020B0600000101010101" charset="0"/>
              </a:rPr>
              <a:t>• </a:t>
            </a:r>
            <a:r>
              <a:rPr lang="uk-UA" dirty="0"/>
              <a:t>проведено тестування основних сценаріїв роботи системи: автентифікації, створення команд, запрошення учасників, створення завдань, призначення виконавців і перевірки прав доступу.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650</TotalTime>
  <Words>636</Words>
  <Application>Microsoft Office PowerPoint</Application>
  <PresentationFormat>Екран (16:9)</PresentationFormat>
  <Paragraphs>68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6" baseType="lpstr">
      <vt:lpstr>Open Sans</vt:lpstr>
      <vt:lpstr>Calibri</vt:lpstr>
      <vt:lpstr>Economica</vt:lpstr>
      <vt:lpstr>Arial</vt:lpstr>
      <vt:lpstr>Шаблон презентації кваліфікаційної роботи магістрів</vt:lpstr>
      <vt:lpstr>Програмна система для керування завданнями Tasky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Дизайн системи</vt:lpstr>
      <vt:lpstr>Приклад реалізації</vt:lpstr>
      <vt:lpstr>Інтерфейс користувача </vt:lpstr>
      <vt:lpstr>Подальший розвиток системи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Прядко</dc:creator>
  <cp:lastModifiedBy>Максим Прядко</cp:lastModifiedBy>
  <cp:revision>10</cp:revision>
  <dcterms:created xsi:type="dcterms:W3CDTF">2026-06-08T09:30:34Z</dcterms:created>
  <dcterms:modified xsi:type="dcterms:W3CDTF">2026-06-09T07:07:26Z</dcterms:modified>
</cp:coreProperties>
</file>